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1.png" ContentType="image/png"/>
  <Override PartName="/ppt/media/image2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7BAC67-2149-473A-BD52-8F18C7F3A480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E96D3FA-A61D-4047-9627-9F571EE77473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394AED-5117-489E-BA1D-EB9716AC7249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C801CD3-AC91-448C-A711-5062A6DBD16A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3D1A692-6B94-4A8A-BE29-7B29BF53FD3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0"/>
            <a:ext cx="10077840" cy="566784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"/>
          <p:cNvSpPr/>
          <p:nvPr/>
        </p:nvSpPr>
        <p:spPr>
          <a:xfrm>
            <a:off x="1440000" y="1080000"/>
            <a:ext cx="1437840" cy="12578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7380000" y="3960000"/>
            <a:ext cx="1437840" cy="12578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9000000" y="2700000"/>
            <a:ext cx="1257840" cy="10778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-180000" y="2430000"/>
            <a:ext cx="1437840" cy="13478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540000" y="1080000"/>
            <a:ext cx="717840" cy="7178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" name=""/>
          <p:cNvSpPr/>
          <p:nvPr/>
        </p:nvSpPr>
        <p:spPr>
          <a:xfrm>
            <a:off x="0" y="1260000"/>
            <a:ext cx="717840" cy="7178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" name=""/>
          <p:cNvSpPr/>
          <p:nvPr/>
        </p:nvSpPr>
        <p:spPr>
          <a:xfrm>
            <a:off x="0" y="5220000"/>
            <a:ext cx="1617840" cy="125784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" name=""/>
          <p:cNvSpPr/>
          <p:nvPr/>
        </p:nvSpPr>
        <p:spPr>
          <a:xfrm>
            <a:off x="9720000" y="4680000"/>
            <a:ext cx="717840" cy="7178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9540000" y="3420000"/>
            <a:ext cx="717840" cy="7178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" name=""/>
          <p:cNvSpPr/>
          <p:nvPr/>
        </p:nvSpPr>
        <p:spPr>
          <a:xfrm>
            <a:off x="8100000" y="4680000"/>
            <a:ext cx="1077840" cy="8402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" name=""/>
          <p:cNvSpPr/>
          <p:nvPr/>
        </p:nvSpPr>
        <p:spPr>
          <a:xfrm>
            <a:off x="7920000" y="5400000"/>
            <a:ext cx="897840" cy="89784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1"/>
          </p:nvPr>
        </p:nvSpPr>
        <p:spPr>
          <a:xfrm>
            <a:off x="3420000" y="5130000"/>
            <a:ext cx="32378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2"/>
          </p:nvPr>
        </p:nvSpPr>
        <p:spPr>
          <a:xfrm>
            <a:off x="7560000" y="5130000"/>
            <a:ext cx="23378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E3DB87-C1A0-4BCB-BF89-183FB4F1F677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360" y="360"/>
            <a:ext cx="10077840" cy="566784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9" name=""/>
          <p:cNvSpPr/>
          <p:nvPr/>
        </p:nvSpPr>
        <p:spPr>
          <a:xfrm flipH="1">
            <a:off x="-5040" y="0"/>
            <a:ext cx="10078200" cy="566820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" name=""/>
          <p:cNvSpPr/>
          <p:nvPr/>
        </p:nvSpPr>
        <p:spPr>
          <a:xfrm>
            <a:off x="7560360" y="5130360"/>
            <a:ext cx="233784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74D2CE69-20B1-491A-90DA-E929C3EE028B}" type="slidenum"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440360" y="1080360"/>
            <a:ext cx="1437840" cy="12578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" name=""/>
          <p:cNvSpPr/>
          <p:nvPr/>
        </p:nvSpPr>
        <p:spPr>
          <a:xfrm>
            <a:off x="7380360" y="3960360"/>
            <a:ext cx="1437840" cy="12578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" name=""/>
          <p:cNvSpPr/>
          <p:nvPr/>
        </p:nvSpPr>
        <p:spPr>
          <a:xfrm>
            <a:off x="9000360" y="2700360"/>
            <a:ext cx="1257840" cy="10778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" name=""/>
          <p:cNvSpPr/>
          <p:nvPr/>
        </p:nvSpPr>
        <p:spPr>
          <a:xfrm>
            <a:off x="-179640" y="2430360"/>
            <a:ext cx="1437840" cy="13478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540360" y="1080360"/>
            <a:ext cx="717840" cy="7178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360" y="1260360"/>
            <a:ext cx="717840" cy="7178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360" y="5220360"/>
            <a:ext cx="1617840" cy="125784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" name=""/>
          <p:cNvSpPr/>
          <p:nvPr/>
        </p:nvSpPr>
        <p:spPr>
          <a:xfrm>
            <a:off x="9720360" y="4680360"/>
            <a:ext cx="717840" cy="7178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9540360" y="3420360"/>
            <a:ext cx="717840" cy="7178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" name=""/>
          <p:cNvSpPr/>
          <p:nvPr/>
        </p:nvSpPr>
        <p:spPr>
          <a:xfrm>
            <a:off x="8100360" y="4680360"/>
            <a:ext cx="1077840" cy="8402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" name=""/>
          <p:cNvSpPr/>
          <p:nvPr/>
        </p:nvSpPr>
        <p:spPr>
          <a:xfrm>
            <a:off x="7920360" y="5400360"/>
            <a:ext cx="897840" cy="89784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ftr" idx="3"/>
          </p:nvPr>
        </p:nvSpPr>
        <p:spPr>
          <a:xfrm>
            <a:off x="3420000" y="5130000"/>
            <a:ext cx="32378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4"/>
          </p:nvPr>
        </p:nvSpPr>
        <p:spPr>
          <a:xfrm>
            <a:off x="7560000" y="5130000"/>
            <a:ext cx="23378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93CBE4-5D1D-4B49-83E1-1A7D8671A258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360" y="360"/>
            <a:ext cx="10077840" cy="566784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8" name=""/>
          <p:cNvSpPr/>
          <p:nvPr/>
        </p:nvSpPr>
        <p:spPr>
          <a:xfrm flipH="1">
            <a:off x="-5040" y="0"/>
            <a:ext cx="10078200" cy="566820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7560360" y="5130360"/>
            <a:ext cx="233784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3171CEFF-3414-43EC-B41D-6B7B79513F64}" type="slidenum"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440360" y="1080360"/>
            <a:ext cx="1437840" cy="12578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" name=""/>
          <p:cNvSpPr/>
          <p:nvPr/>
        </p:nvSpPr>
        <p:spPr>
          <a:xfrm>
            <a:off x="7380360" y="3960360"/>
            <a:ext cx="1437840" cy="12578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>
            <a:off x="9000360" y="2700360"/>
            <a:ext cx="1257840" cy="10778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" name=""/>
          <p:cNvSpPr/>
          <p:nvPr/>
        </p:nvSpPr>
        <p:spPr>
          <a:xfrm>
            <a:off x="-179640" y="2430360"/>
            <a:ext cx="1437840" cy="13478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" name=""/>
          <p:cNvSpPr/>
          <p:nvPr/>
        </p:nvSpPr>
        <p:spPr>
          <a:xfrm>
            <a:off x="540360" y="1080360"/>
            <a:ext cx="717840" cy="7178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5" name=""/>
          <p:cNvSpPr/>
          <p:nvPr/>
        </p:nvSpPr>
        <p:spPr>
          <a:xfrm>
            <a:off x="360" y="1260360"/>
            <a:ext cx="717840" cy="7178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360" y="5220360"/>
            <a:ext cx="1617840" cy="125784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" name=""/>
          <p:cNvSpPr/>
          <p:nvPr/>
        </p:nvSpPr>
        <p:spPr>
          <a:xfrm>
            <a:off x="9720360" y="4680360"/>
            <a:ext cx="717840" cy="7178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" name=""/>
          <p:cNvSpPr/>
          <p:nvPr/>
        </p:nvSpPr>
        <p:spPr>
          <a:xfrm>
            <a:off x="9540360" y="3420360"/>
            <a:ext cx="717840" cy="7178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" name=""/>
          <p:cNvSpPr/>
          <p:nvPr/>
        </p:nvSpPr>
        <p:spPr>
          <a:xfrm>
            <a:off x="8100360" y="4680360"/>
            <a:ext cx="1077840" cy="8402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" name=""/>
          <p:cNvSpPr/>
          <p:nvPr/>
        </p:nvSpPr>
        <p:spPr>
          <a:xfrm>
            <a:off x="7920360" y="5400360"/>
            <a:ext cx="897840" cy="89784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378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6"/>
          </p:nvPr>
        </p:nvSpPr>
        <p:spPr>
          <a:xfrm>
            <a:off x="7560000" y="5130000"/>
            <a:ext cx="23378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D34B1E-A865-40D3-8B26-59B9091832C4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0" y="360"/>
            <a:ext cx="10077840" cy="566748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" name=""/>
          <p:cNvSpPr/>
          <p:nvPr/>
        </p:nvSpPr>
        <p:spPr>
          <a:xfrm flipH="1">
            <a:off x="-4680" y="0"/>
            <a:ext cx="10078200" cy="566820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" name=""/>
          <p:cNvSpPr/>
          <p:nvPr/>
        </p:nvSpPr>
        <p:spPr>
          <a:xfrm>
            <a:off x="0" y="1260360"/>
            <a:ext cx="10257840" cy="4497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7560360" y="5130360"/>
            <a:ext cx="233784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A50FC2E8-8475-48B5-A7EE-8F4A71938D81}" type="slidenum"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1440360" y="1080360"/>
            <a:ext cx="1437840" cy="12578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" name=""/>
          <p:cNvSpPr/>
          <p:nvPr/>
        </p:nvSpPr>
        <p:spPr>
          <a:xfrm>
            <a:off x="7380360" y="3960360"/>
            <a:ext cx="1437840" cy="12578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" name=""/>
          <p:cNvSpPr/>
          <p:nvPr/>
        </p:nvSpPr>
        <p:spPr>
          <a:xfrm>
            <a:off x="540360" y="1080360"/>
            <a:ext cx="717840" cy="7178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"/>
          <p:cNvSpPr/>
          <p:nvPr/>
        </p:nvSpPr>
        <p:spPr>
          <a:xfrm>
            <a:off x="360" y="1260360"/>
            <a:ext cx="717840" cy="7178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ftr" idx="7"/>
          </p:nvPr>
        </p:nvSpPr>
        <p:spPr>
          <a:xfrm>
            <a:off x="3420000" y="5130000"/>
            <a:ext cx="32378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sldNum" idx="8"/>
          </p:nvPr>
        </p:nvSpPr>
        <p:spPr>
          <a:xfrm>
            <a:off x="7560000" y="5130000"/>
            <a:ext cx="23378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DB60F3-65B5-4586-B346-5133D7242958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0" y="360"/>
            <a:ext cx="10077840" cy="566748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"/>
          <p:cNvSpPr/>
          <p:nvPr/>
        </p:nvSpPr>
        <p:spPr>
          <a:xfrm flipH="1">
            <a:off x="-4680" y="0"/>
            <a:ext cx="10078200" cy="566820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"/>
          <p:cNvSpPr/>
          <p:nvPr/>
        </p:nvSpPr>
        <p:spPr>
          <a:xfrm>
            <a:off x="0" y="1260360"/>
            <a:ext cx="10257840" cy="4497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"/>
          <p:cNvSpPr/>
          <p:nvPr/>
        </p:nvSpPr>
        <p:spPr>
          <a:xfrm>
            <a:off x="7560360" y="5130360"/>
            <a:ext cx="233784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</a:pPr>
            <a:fld id="{E8DADA34-26A5-470C-9DAC-425CDE78890E}" type="slidenum"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440360" y="1080360"/>
            <a:ext cx="1437840" cy="12578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6" name=""/>
          <p:cNvSpPr/>
          <p:nvPr/>
        </p:nvSpPr>
        <p:spPr>
          <a:xfrm>
            <a:off x="7380360" y="3960360"/>
            <a:ext cx="1437840" cy="125784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7" name=""/>
          <p:cNvSpPr/>
          <p:nvPr/>
        </p:nvSpPr>
        <p:spPr>
          <a:xfrm>
            <a:off x="540360" y="1080360"/>
            <a:ext cx="717840" cy="71784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" name=""/>
          <p:cNvSpPr/>
          <p:nvPr/>
        </p:nvSpPr>
        <p:spPr>
          <a:xfrm>
            <a:off x="360" y="1260360"/>
            <a:ext cx="717840" cy="71784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9"/>
          </p:nvPr>
        </p:nvSpPr>
        <p:spPr>
          <a:xfrm>
            <a:off x="3420000" y="5130000"/>
            <a:ext cx="32378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10"/>
          </p:nvPr>
        </p:nvSpPr>
        <p:spPr>
          <a:xfrm>
            <a:off x="7560000" y="5130000"/>
            <a:ext cx="23378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6058A7-43B1-4677-B518-F6FCB69FB3C5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doi.org/10.1109/ACCESS.2024.3403426" TargetMode="Externa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1428840"/>
            <a:ext cx="906948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ffffff"/>
                </a:solidFill>
                <a:latin typeface="Arial"/>
              </a:rPr>
              <a:t>RL Driven Code Prompt Compression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275400" y="4800600"/>
            <a:ext cx="3837240" cy="68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Course Director: Masha Fridin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914400" y="2514600"/>
            <a:ext cx="7770240" cy="12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600" spc="-1" strike="noStrike">
                <a:solidFill>
                  <a:srgbClr val="ffffff"/>
                </a:solidFill>
                <a:latin typeface="Arial"/>
                <a:ea typeface="DejaVu Sans"/>
              </a:rPr>
              <a:t>Final Course Project: Reinforcement Learning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715000" y="4800600"/>
            <a:ext cx="383724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Author: Strizhak Dmitry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  <a:ea typeface="DejaVu Sans"/>
              </a:rPr>
              <a:t>(Afeka College of Engineering)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/>
          </p:nvPr>
        </p:nvSpPr>
        <p:spPr>
          <a:xfrm>
            <a:off x="601200" y="3040200"/>
            <a:ext cx="8997840" cy="61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ctr">
              <a:lnSpc>
                <a:spcPct val="100000"/>
              </a:lnSpc>
              <a:spcBef>
                <a:spcPts val="1766"/>
              </a:spcBef>
              <a:spcAft>
                <a:spcPts val="1060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Liberation Serif;Times New Roman"/>
                <a:ea typeface="Noto Serif CJK SC"/>
              </a:rPr>
              <a:t>Introduction &amp; Motivation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Literature Foundation &amp; Baseline Study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4259880" cy="221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Scientific Passport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David CLM"/>
              </a:rPr>
              <a:t>FOUNDATIONAL REFERENCE STUDY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Discrete Prompt Compression with Reinforcement Learning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Authors: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Hyeongchan Jung, Kyung-Joong Kim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Institution: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Gwangju Institute of Science and Technology (GIST)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Journal: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IEEE Access (Volume 12, 2024)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257800" y="1445040"/>
            <a:ext cx="4416480" cy="39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Contribution &amp; Bridge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David CLM"/>
                <a:ea typeface="DejaVu Sans"/>
              </a:rPr>
              <a:t>WHY IT WAS CHOSEN FOR ADAPTATION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CJK SC"/>
              </a:rPr>
              <a:t>First Discrete Prompt RL Framework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CJK SC"/>
              </a:rPr>
              <a:t>Introduced the concept of editing textual instructions via a policy network trained using trial-and-error rewards.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CJK SC"/>
              </a:rPr>
              <a:t>Gradient-Free &amp; Black-Box Compatible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CJK SC"/>
              </a:rPr>
              <a:t>Can be trained without access to the internal weights or likelihood distributions of target generative models.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CJK SC"/>
              </a:rPr>
              <a:t>The Code Domain Limitation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CJK SC"/>
              </a:rPr>
              <a:t>The Gap: Tested exclusively on general summarization, ignoring the fragile structural and syntactic constraints of code.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685800" y="3837600"/>
            <a:ext cx="4114080" cy="77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The Hidden Cost of Context: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Computational Bottlenecks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448704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Quadratic Complexity: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Transformer self-attention complexity scales at O(N</a:t>
            </a:r>
            <a:r>
              <a:rPr b="0" lang="en-US" sz="1400" spc="-1" strike="noStrike" baseline="33000">
                <a:solidFill>
                  <a:srgbClr val="000000"/>
                </a:solidFill>
                <a:latin typeface="Arial"/>
              </a:rPr>
              <a:t>2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), where N represents the input prompt token length.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VRAM Footprint: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Long instructions expand the Key-Value (KV) cache size exponentially, severely capping operational batch sizes.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Inference Latency: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Processing redundant conversational syntax increases Time-to-First-Token (TTFT).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Deployment Challenge: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Excessive system prompts in RAG pipelines introduce massive financial and computational overhead for local environments.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5715000" y="1259640"/>
            <a:ext cx="4051800" cy="399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Baseline Architecture: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Discrete Prompt Compression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448704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Foundational Study: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Based on the framework "Discrete Prompt Compression with Reinforcement Learning" (DOI: </a:t>
            </a:r>
            <a:r>
              <a:rPr b="0" lang="en-US" sz="14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10.1109/ACCESS.2024.3403426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Core Concept: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Employing a lightweight, discrete language model as a token gating mechanism.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Mechanism: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The agent evaluates the prompt token-by-token and outputs a binary action: Keep (1) or Remove (0).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Original Scope: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Tailored exclusively for general-purpose conversational texts, summary generation, and basic chat dialogs.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5846400" y="1371600"/>
            <a:ext cx="3903480" cy="388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Domain Challenges: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The Fragility of Code Prompts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448704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High Semantic Density: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Software engineering instructions are deeply sensitive to structural and punctuation arrangements.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Syntax Fragility: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Removing single characters like commas, brackets, or variable types completely corrupts code generation intent.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Generalist Failure: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General-purpose text compressors treat technical symbols as linguistic noise or irrelevant stop-words.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Objective: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Adapt the RL compression policy to recognize the strict semantic boundaries of technical constraints.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5727240" y="1371600"/>
            <a:ext cx="4111920" cy="391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/>
          </p:nvPr>
        </p:nvSpPr>
        <p:spPr>
          <a:xfrm>
            <a:off x="601200" y="3040200"/>
            <a:ext cx="8997840" cy="61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ctr">
              <a:lnSpc>
                <a:spcPct val="100000"/>
              </a:lnSpc>
              <a:spcBef>
                <a:spcPts val="1766"/>
              </a:spcBef>
              <a:spcAft>
                <a:spcPts val="1060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Liberation Serif;Times New Roman"/>
                <a:ea typeface="Noto Serif CJK SC"/>
              </a:rPr>
              <a:t>System Architecture &amp; RL Environment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Proposed Prompt Compression Pipeline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448704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Raw Prompt Input: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Human-authored technical instruction from the CodeAlpaca dataset.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RL Compression Layer: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A lightweight RoBERTa policy network processes input text streams.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Binary Mask Application: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Selective filtration yields a minimized prompt string by MaskMG algorithm.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Target Generator: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The compressed text is passed directly into a fine-tuned GPT-2 XL model.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Evaluation Engine: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Code outputs are compiled and cross-validated using a multi-metric scoring system.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6002640" y="1312200"/>
            <a:ext cx="2913480" cy="407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RL Architecture: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Policy &amp; Action Spaces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432000" y="1655640"/>
            <a:ext cx="4487040" cy="29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Backbone: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Utilizing a pre-trained RoBERTa model adapted for sequence labeling tasks.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State Space: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Contextual token hidden-state embeddings generated dynamically by the encoder network.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Action Space: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Discrete binary choice executed for every single token: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35072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Action = 1: Retain the token in the prompt string.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35072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Action = 0: Prune the token from the prompt string.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Policy Optimization: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Optimized via </a:t>
            </a:r>
            <a:r>
              <a:rPr b="1" i="1" lang="en-US" sz="1400" spc="-1" strike="noStrike">
                <a:solidFill>
                  <a:srgbClr val="000000"/>
                </a:solidFill>
                <a:latin typeface="Arial"/>
              </a:rPr>
              <a:t>Policy Gradient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tracking sequence-level downstream rewards.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1143000" y="4699440"/>
            <a:ext cx="2862000" cy="32904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2"/>
          <a:srcRect l="6406" t="10174" r="7878" b="7196"/>
          <a:stretch/>
        </p:blipFill>
        <p:spPr>
          <a:xfrm>
            <a:off x="5257800" y="1828800"/>
            <a:ext cx="3733560" cy="279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Environment Design: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State Tracking &amp; Token Processing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448704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Framework: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Built on a customized OpenAI Gym environment tracking sequence generation steps.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Observation Space: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Managed via tokenized data arrays mapping strings to specific vocabulary indices.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Syntactic State Alignment: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Token processing is optimized to preserve exact positional n-gram structures, directly feeding local syntax features into the downstream BLEU reward loop.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Isolation: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Isolates token properties to guarantee that observation matrices feed accurately into policy evaluation loops.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5713200" y="1458000"/>
            <a:ext cx="3355560" cy="407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Optimization Goal: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The Reward Mechanics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448704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Trade-off: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The policy network must minimize prompt length while maximizing code fidelity.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Compression Metric: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Tracking the Compression Ratio (CR):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</a:rPr>
              <a:t>CR=N(original)​/N(dropped)​​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Fidelity Metric: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Downstream generation quality scored by evaluation algorithms (Q).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Reward Equation Structure: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Balancing compression and quality using hyperparameter weights: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</a:rPr>
              <a:t>Reward=α⋅CR+β⋅Q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5254200" y="1368000"/>
            <a:ext cx="3800160" cy="409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/>
          </p:nvPr>
        </p:nvSpPr>
        <p:spPr>
          <a:xfrm>
            <a:off x="601200" y="3040200"/>
            <a:ext cx="8997840" cy="61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ctr">
              <a:lnSpc>
                <a:spcPct val="100000"/>
              </a:lnSpc>
              <a:spcBef>
                <a:spcPts val="1766"/>
              </a:spcBef>
              <a:spcAft>
                <a:spcPts val="1060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Liberation Serif;Times New Roman"/>
                <a:ea typeface="Noto Serif CJK SC"/>
              </a:rPr>
              <a:t>Validation Metrics: ROUGE vs. BLEU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Evaluating Text Similarity: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The ROUGE-L Baseline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448704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Metric Definition: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Recall-Oriented Understudy for Gisting Evaluation.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Focus: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Measures the Longest Common Subsequence (LCS) between the generation and the ground-truth text.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Strength: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Excellent for summarizing raw information, text extraction, and conversational flows.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Limitation: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Blind to strict sequence arrangements, formatting shifts, and syntax structure logic.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6002640" y="1432800"/>
            <a:ext cx="3371040" cy="3845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The Blind Spot of Semantic Text Metrics in Code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540000" y="1439640"/>
            <a:ext cx="448704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Code Fragility: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Code can have a high text overlap but be completely broken.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ROUGE-L Failure Example: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</a:rPr>
              <a:t>Ground Truth: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if (x == y) return true;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Model Output: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 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if (x != y) return true;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Metric Blindness: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 ROUGE-L scores this example near 90% due to identical words, ignoring that the logic is completely inverted.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Conclusion: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 Purely semantic text metrics fail to capture devastating syntax or logical errors.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5110200" y="1377000"/>
            <a:ext cx="4166280" cy="393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Enhanced Validation: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BLEU Metric Integration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448704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Metric Definition: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Bilingual Evaluation Understudy (BLEU).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Core Feature: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Calculates precision via overlapping n-grams (combinations of consecutive tokens).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Value for Code: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Enforces strict local sequence ordering, successfully capturing broken syntax and logic shifts.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System Integration: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Injected BLEU directly into both the evaluation validation pipeline and the downstream reward feedback loops.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5095800" y="1348200"/>
            <a:ext cx="4473720" cy="407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/>
          </p:nvPr>
        </p:nvSpPr>
        <p:spPr>
          <a:xfrm>
            <a:off x="601200" y="3040200"/>
            <a:ext cx="8997840" cy="61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ctr">
              <a:lnSpc>
                <a:spcPct val="100000"/>
              </a:lnSpc>
              <a:spcBef>
                <a:spcPts val="1766"/>
              </a:spcBef>
              <a:spcAft>
                <a:spcPts val="1060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Liberation Serif;Times New Roman"/>
                <a:ea typeface="Noto Serif CJK SC"/>
              </a:rPr>
              <a:t>Experimental Results &amp; Case Study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Replicating the Original Baseline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541440" y="1439640"/>
            <a:ext cx="448704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Experimental Environment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7"/>
          <p:cNvSpPr/>
          <p:nvPr/>
        </p:nvSpPr>
        <p:spPr>
          <a:xfrm>
            <a:off x="541440" y="3888000"/>
            <a:ext cx="3801240" cy="91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Before introducing syntactic extensions for code, I performed a rigorous replication of the authors' original work to verify the stability of the RL framework.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587160" y="1787760"/>
            <a:ext cx="3755520" cy="1787760"/>
          </a:xfrm>
          <a:prstGeom prst="rect">
            <a:avLst/>
          </a:prstGeom>
          <a:ln w="0">
            <a:noFill/>
          </a:ln>
        </p:spPr>
      </p:pic>
      <p:sp>
        <p:nvSpPr>
          <p:cNvPr id="132" name="PlaceHolder 8"/>
          <p:cNvSpPr/>
          <p:nvPr/>
        </p:nvSpPr>
        <p:spPr>
          <a:xfrm>
            <a:off x="4933440" y="1440000"/>
            <a:ext cx="380124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Data Alignment Matrix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2"/>
          <a:stretch/>
        </p:blipFill>
        <p:spPr>
          <a:xfrm>
            <a:off x="5069520" y="1828800"/>
            <a:ext cx="4025160" cy="1691640"/>
          </a:xfrm>
          <a:prstGeom prst="rect">
            <a:avLst/>
          </a:prstGeom>
          <a:ln w="0">
            <a:noFill/>
          </a:ln>
        </p:spPr>
      </p:pic>
      <p:sp>
        <p:nvSpPr>
          <p:cNvPr id="134" name=""/>
          <p:cNvSpPr/>
          <p:nvPr/>
        </p:nvSpPr>
        <p:spPr>
          <a:xfrm>
            <a:off x="5029200" y="3501000"/>
            <a:ext cx="38854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Framework Verified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My implementation yields results nearly identical to the peer-reviewed baseline. This confirms the system's repeatability and provides a secure foundation for Stage 2: Code Domain Adaptation.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Experimental Setup &amp; Data Splits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540000" y="1439640"/>
            <a:ext cx="448704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Evaluation Dataset Size: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500 rows per tracking split block.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Data Categorization Engine: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Evaluated across three distinct test splits: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35072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validation_seen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: Performance on problems encountered during the training phase.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35072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validation_unseen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: Performance on entirely new programming tasks.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35072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validation_human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: Hard test samples designed to check complex edge cases.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Hardware Baseline: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 Automated batch executions conducted on NVIDIA L4/A100 GPU instances.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5470200" y="1285560"/>
            <a:ext cx="4114080" cy="395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Quantitative Analysis: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Resource Savings vs. Quality Loss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ubTitle"/>
          </p:nvPr>
        </p:nvSpPr>
        <p:spPr>
          <a:xfrm>
            <a:off x="313200" y="1551960"/>
            <a:ext cx="9287280" cy="112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Core Performance Insight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My Prompt Compressor (PCRL) model demonstrates stable, near-identical token compression margins across seen, unseen, and human-crafted datasets while preserving algorithmic syntax.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3189600" y="2563920"/>
            <a:ext cx="6435000" cy="2767320"/>
          </a:xfrm>
          <a:prstGeom prst="rect">
            <a:avLst/>
          </a:prstGeom>
          <a:ln w="0">
            <a:noFill/>
          </a:ln>
        </p:spPr>
      </p:pic>
      <p:pic>
        <p:nvPicPr>
          <p:cNvPr id="141" name="" descr=""/>
          <p:cNvPicPr/>
          <p:nvPr/>
        </p:nvPicPr>
        <p:blipFill>
          <a:blip r:embed="rId2"/>
          <a:stretch/>
        </p:blipFill>
        <p:spPr>
          <a:xfrm>
            <a:off x="421920" y="3393360"/>
            <a:ext cx="2271960" cy="889920"/>
          </a:xfrm>
          <a:prstGeom prst="rect">
            <a:avLst/>
          </a:prstGeom>
          <a:ln w="0">
            <a:noFill/>
          </a:ln>
        </p:spPr>
      </p:pic>
      <p:pic>
        <p:nvPicPr>
          <p:cNvPr id="142" name="" descr=""/>
          <p:cNvPicPr/>
          <p:nvPr/>
        </p:nvPicPr>
        <p:blipFill>
          <a:blip r:embed="rId3"/>
          <a:stretch/>
        </p:blipFill>
        <p:spPr>
          <a:xfrm>
            <a:off x="422640" y="4371480"/>
            <a:ext cx="2285280" cy="89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Qualitative Deep Dive: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JavaScript Palindrome Test Case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425988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Original Instruction: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Request to write a JavaScript palindrome function with a sample array input.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PCRL Compressed Prompt: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Successfully stripped conversational words like "a" and "in".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Structural Bug: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The agent mistakenly stripped the array commas and the closing bracket.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Downstream Collapse: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GPT-2 XL lost context due to the broken array syntax and hallucinated infinite loop comments.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4953240" y="1276200"/>
            <a:ext cx="4705920" cy="407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/>
          </p:nvPr>
        </p:nvSpPr>
        <p:spPr>
          <a:xfrm>
            <a:off x="601200" y="3040200"/>
            <a:ext cx="8997840" cy="61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ctr">
              <a:lnSpc>
                <a:spcPct val="100000"/>
              </a:lnSpc>
              <a:spcBef>
                <a:spcPts val="1766"/>
              </a:spcBef>
              <a:spcAft>
                <a:spcPts val="1060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Liberation Serif;Times New Roman"/>
                <a:ea typeface="Noto Serif CJK SC"/>
              </a:rPr>
              <a:t>Future Work &amp; Master's Thesis Vision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Strategic Outlook: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Native Google TPU Acceleration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ubTitle"/>
          </p:nvPr>
        </p:nvSpPr>
        <p:spPr>
          <a:xfrm>
            <a:off x="396000" y="1299600"/>
            <a:ext cx="4487040" cy="429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Next Frontier: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Migrate the entire PCRL training and evaluation ecosystem from GPU to Google Cloud TPU hardware nodes.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Architectural Wall: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TPUs rely on strict XLA (Accelerated Linear Algebra) graph compilation graph frameworks.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No Simple Compilation: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Code bases built on dynamic shapes, dynamic padding, and variable gym loops cannot simply be compiled; they must be rewritten from scratch.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Research Dimensions: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Evaluate development overhead vs. execution scaling, hardware cost-efficiency, and matrix operation speeds.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Thesis Scope: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This native TPU rewrite and optimization study forms the foundational proposal for my upcoming Master's Final Project.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1"/>
          <a:stretch/>
        </p:blipFill>
        <p:spPr>
          <a:xfrm>
            <a:off x="5661720" y="1330560"/>
            <a:ext cx="3801600" cy="4128120"/>
          </a:xfrm>
          <a:prstGeom prst="rect">
            <a:avLst/>
          </a:prstGeom>
          <a:ln w="0">
            <a:noFill/>
          </a:ln>
        </p:spPr>
      </p:pic>
      <p:sp>
        <p:nvSpPr>
          <p:cNvPr id="150" name=""/>
          <p:cNvSpPr/>
          <p:nvPr/>
        </p:nvSpPr>
        <p:spPr>
          <a:xfrm>
            <a:off x="9144000" y="5298120"/>
            <a:ext cx="456480" cy="2278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648000"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Liberation Serif;Times New Roman"/>
                <a:ea typeface="Noto Serif CJK SC"/>
              </a:rPr>
              <a:t>Conclusion &amp; Q&amp;A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6048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Domain Adaptation: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Successfully adapted an RL prompt compressor to handle fragile software engineering contexts.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Fidelity Tracking: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Integrated the BLEU metric to create a validation engine sensitive to code syntax.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Operational Metrics: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Achieved a 37% reduction in prompt size, optimizing local LLM resource management profiles.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Infrastructure: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Stabilized and debugged the legacy codebase for modern MLOps environments.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</a:rPr>
              <a:t>Thank you for your time. Open for questions.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/>
          </p:nvPr>
        </p:nvSpPr>
        <p:spPr>
          <a:xfrm>
            <a:off x="601200" y="3040200"/>
            <a:ext cx="8997840" cy="61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ctr">
              <a:lnSpc>
                <a:spcPct val="100000"/>
              </a:lnSpc>
              <a:spcBef>
                <a:spcPts val="1766"/>
              </a:spcBef>
              <a:spcAft>
                <a:spcPts val="1060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Liberation Serif;Times New Roman"/>
                <a:ea typeface="Noto Serif CJK SC"/>
              </a:rPr>
              <a:t>Engineering Challenges &amp; Infrastructure MLOps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Engineering Challenges: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Memory Saturation &amp; Caching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448704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Hardware Wall: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Running RoBERTa and GPT-2 XL concurrently peaked past VRAM allocations at batch size 32.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Culprit: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PyTorch's native caching allocator holding memory blocks fragmentation states during rapid evaluation steps.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Mitigation: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Optimization down to a batch size of 16 stabilized memory footprint.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Insight: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Batch constraints on inference evaluations do not alter the policy learning weights or generation quality profiles.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5481000" y="1276200"/>
            <a:ext cx="4154040" cy="407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Engineering Challenges: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Overcoming Object Serialization Restrictions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ubTitle"/>
          </p:nvPr>
        </p:nvSpPr>
        <p:spPr>
          <a:xfrm>
            <a:off x="540000" y="1439640"/>
            <a:ext cx="448704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Error: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System failure occurred during model checkpoint restoration on newer PyTorch targets.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Cause: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PyTorch 2.6+ enforces 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weights_only=True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 by default inside 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torch.load()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 to prevent security vulnerabilities.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The Conflict: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 Legacy academic model checkpoints contain custom object configurations that trip this guardrail.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The Solution: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 Patched scripts to explicitly bypass serialization checking via 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weights_only=False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 wrappers.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5024160" y="1312200"/>
            <a:ext cx="4590000" cy="407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7840" cy="98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Engineering Challenges: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Eliminating Legacy API Debt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4487040" cy="359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The Error: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AttributeError: 'FixedTokenObservation' object has no attribute 'is_irrel_token'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The Structural Root Cause: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 Code duplication inside the environment source files where a second definition overrode active methods.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The Legacy Debt: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 The training environment had commented out experimental features but left active dependencies inside evaluation modules.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0036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The Solution: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 Cleaned out obsolete API tracking structures from </a:t>
            </a:r>
            <a:r>
              <a:rPr b="0" lang="en-US" sz="14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evaluate_pcrl.py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Mono CJK SC"/>
              </a:rPr>
              <a:t> to match core environment definitions.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5415480" y="1348200"/>
            <a:ext cx="4132440" cy="407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2026-06-17T13:36:56Z</dcterms:created>
  <dc:creator/>
  <dc:description/>
  <dc:language>en-US</dc:language>
  <cp:lastModifiedBy/>
  <dcterms:modified xsi:type="dcterms:W3CDTF">2026-07-10T08:03:01Z</dcterms:modified>
  <cp:revision>26</cp:revision>
  <dc:subject/>
  <dc:title>Lights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